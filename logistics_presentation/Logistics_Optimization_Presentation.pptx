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41D3A"/>
          </a:solidFill>
          <a:ln/>
        </p:spPr>
      </p:sp>
      <p:pic>
        <p:nvPicPr>
          <p:cNvPr id="5" name="Image 0" descr="/sessions/fervent-dazzling-brown/mnt/outputs/deck/icons/truc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53090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457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OPTIMIZATION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AI-Native Platform for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Delivery, Fleet &amp; Warehouse Operations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66928" y="41605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generation, machine learning &amp; optimization, and an executive dashboard — built end to end as one connected system.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5212080"/>
            <a:ext cx="621792" cy="365760"/>
          </a:xfrm>
          <a:prstGeom prst="roundRect">
            <a:avLst>
              <a:gd name="adj" fmla="val 50000"/>
            </a:avLst>
          </a:prstGeom>
          <a:solidFill>
            <a:srgbClr val="141D3A"/>
          </a:solidFill>
          <a:ln w="12700">
            <a:solidFill>
              <a:srgbClr val="2432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2120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335024" y="5212080"/>
            <a:ext cx="621792" cy="365760"/>
          </a:xfrm>
          <a:prstGeom prst="roundRect">
            <a:avLst>
              <a:gd name="adj" fmla="val 50000"/>
            </a:avLst>
          </a:prstGeom>
          <a:solidFill>
            <a:srgbClr val="141D3A"/>
          </a:solidFill>
          <a:ln w="12700">
            <a:solidFill>
              <a:srgbClr val="2432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35024" y="521208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103120" y="5212080"/>
            <a:ext cx="2084832" cy="365760"/>
          </a:xfrm>
          <a:prstGeom prst="roundRect">
            <a:avLst>
              <a:gd name="adj" fmla="val 50000"/>
            </a:avLst>
          </a:prstGeom>
          <a:solidFill>
            <a:srgbClr val="141D3A"/>
          </a:solidFill>
          <a:ln w="12700">
            <a:solidFill>
              <a:srgbClr val="2432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03120" y="5212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Directors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34256" y="5212080"/>
            <a:ext cx="2176272" cy="365760"/>
          </a:xfrm>
          <a:prstGeom prst="roundRect">
            <a:avLst>
              <a:gd name="adj" fmla="val 50000"/>
            </a:avLst>
          </a:prstGeom>
          <a:solidFill>
            <a:srgbClr val="141D3A"/>
          </a:solidFill>
          <a:ln w="12700">
            <a:solidFill>
              <a:srgbClr val="24325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34256" y="52120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Managers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56832" y="5212080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141D3A"/>
          </a:solidFill>
          <a:ln w="12700">
            <a:solidFill>
              <a:srgbClr val="2432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56832" y="521208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6928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— prompt 04 of 4  •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acts, nineteen topics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7335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184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2002536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problem, and where AI changes the economics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1673352"/>
            <a:ext cx="566928" cy="56692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6184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78040" y="2002536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causally-consistent synthetic dataset, built to be learned from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8952" y="3410712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3558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08760" y="3739896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deep learning, optimization, explainability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3410712"/>
            <a:ext cx="566928" cy="566928"/>
          </a:xfrm>
          <a:prstGeom prst="ellipse">
            <a:avLst/>
          </a:prstGeom>
          <a:solidFill>
            <a:srgbClr val="1120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33558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78040" y="3739896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nine-module executive dashboard, live and interactive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8920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8952" y="5148072"/>
            <a:ext cx="566928" cy="566928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5148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50932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508760" y="5477256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case studies and a quantified ROI estimate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28232" y="5148072"/>
            <a:ext cx="566928" cy="566928"/>
          </a:xfrm>
          <a:prstGeom prst="ellipse">
            <a:avLst/>
          </a:prstGeom>
          <a:solidFill>
            <a:srgbClr val="5B6B8C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5148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78040" y="50932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Production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178040" y="5477256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security, cloud deployment, roadmap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377440"/>
            <a:ext cx="4114800" cy="41148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65960"/>
            <a:ext cx="1371600" cy="137160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5" name="Image 0" descr="/sessions/fervent-dazzling-brown/mnt/outputs/deck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2144268"/>
            <a:ext cx="1014984" cy="1014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520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5262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problem, and where AI changes the economics of moving things around.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runs on thin margins and manual judgment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9280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GDP is spent on logistics costs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89280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~$95B/yr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26280" y="2423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North America alone to traffic, missed time windows and manual planning errors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1000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89280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 CAGR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75320" y="24231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growth of AI spend inside supply-chain operations through the early 2030s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023360"/>
            <a:ext cx="11183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numbers describes the same underlying gap: decisions — which route, which vehicle, how much stock, which order is at risk — are still made on averages and gut feel, not on the data the business already collects.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61264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 / IMARC / Coherent Market Insights (logistics market sizing); FutureCar (North American inefficiency loss); MarketsandMarkets / Precedence Research (AI-in-supply-chain growth). Estimates vary across providers — shown as an order-of-magnitude range, not a precise forecast.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pain points show up inside our own network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512064" cy="512064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5" name="Image 0" descr="/sessions/fervent-dazzling-brown/mnt/outputs/deck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488" y="1602760"/>
            <a:ext cx="378927" cy="378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087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 of deliveries run late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86537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an 88.7% on-time rate across 50,150 orders — and adverse weather or heavy traffic reliably makes it worse (+2–3pp).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615184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9" name="Image 1" descr="/sessions/fervent-dazzling-brown/mnt/outputs/deck/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88" y="2681752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5877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routes carry under 40% of vehicle capacity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34440" y="294436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load is just 7% — vehicles and drivers are routinely dispatched far below what they could carry.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3694176"/>
            <a:ext cx="512064" cy="512064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3" name="Image 2" descr="/sessions/fervent-dazzling-brown/mnt/outputs/deck/icons/tru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88" y="3760744"/>
            <a:ext cx="378927" cy="3789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66674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the fleet is past 8 years old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40233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of 500 vehicles, where unplanned-failure rates climb sharply and maintenance cost follows.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4773168"/>
            <a:ext cx="512064" cy="512064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7" name="Image 3" descr="/sessions/fervent-dazzling-brown/mnt/outputs/deck/icons/packa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88" y="4839736"/>
            <a:ext cx="378927" cy="378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7457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1.36% of warehouse-SKU snapshots are stocked out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34440" y="510235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block fulfilment at the affected sites during peak windows.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02920" y="61264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measured on the 50,150-order synthetic dataset generated for this project — see Act 2, The Data Foundation.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LOGISTICS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intervenes across the delivery lifecycle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810512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4712" y="1837944"/>
            <a:ext cx="566928" cy="566928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6" name="Image 0" descr="/sessions/fervent-dazzling-brown/mnt/outputs/deck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413" y="1911645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" y="247802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6072" y="2880360"/>
            <a:ext cx="1664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volume by zone and day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322576" y="2761488"/>
            <a:ext cx="100584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10" name="Shape 7"/>
          <p:cNvSpPr/>
          <p:nvPr/>
        </p:nvSpPr>
        <p:spPr>
          <a:xfrm>
            <a:off x="2432304" y="1691640"/>
            <a:ext cx="1810512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54096" y="1837944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2" name="Image 1" descr="/sessions/fervent-dazzling-brown/mnt/outputs/deck/icons/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797" y="1911645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87168" y="247802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505456" y="2880360"/>
            <a:ext cx="1664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orders at risk before they ship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251960" y="2761488"/>
            <a:ext cx="100584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16" name="Shape 12"/>
          <p:cNvSpPr/>
          <p:nvPr/>
        </p:nvSpPr>
        <p:spPr>
          <a:xfrm>
            <a:off x="4361688" y="1691640"/>
            <a:ext cx="1810512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83480" y="1837944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8" name="Image 2" descr="/sessions/fervent-dazzling-brown/mnt/outputs/deck/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181" y="1911645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16552" y="247802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434840" y="2880360"/>
            <a:ext cx="1664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vehicle routing under real constraints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181344" y="2761488"/>
            <a:ext cx="100584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22" name="Shape 17"/>
          <p:cNvSpPr/>
          <p:nvPr/>
        </p:nvSpPr>
        <p:spPr>
          <a:xfrm>
            <a:off x="6291072" y="1691640"/>
            <a:ext cx="1810512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12864" y="1837944"/>
            <a:ext cx="566928" cy="566928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24" name="Image 3" descr="/sessions/fervent-dazzling-brown/mnt/outputs/deck/icons/tru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565" y="1911645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45936" y="247802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364224" y="2880360"/>
            <a:ext cx="1664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explain, and intervene in real time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110728" y="2761488"/>
            <a:ext cx="100584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28" name="Shape 22"/>
          <p:cNvSpPr/>
          <p:nvPr/>
        </p:nvSpPr>
        <p:spPr>
          <a:xfrm>
            <a:off x="8220456" y="1691640"/>
            <a:ext cx="1810512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842248" y="1837944"/>
            <a:ext cx="566928" cy="566928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30" name="Image 4" descr="/sessions/fervent-dazzling-brown/mnt/outputs/deck/icons/warehou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949" y="1911645"/>
            <a:ext cx="419527" cy="41952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75320" y="247802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8293608" y="2880360"/>
            <a:ext cx="1664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facilities and staff to demand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10040112" y="2761488"/>
            <a:ext cx="100584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34" name="Shape 27"/>
          <p:cNvSpPr/>
          <p:nvPr/>
        </p:nvSpPr>
        <p:spPr>
          <a:xfrm>
            <a:off x="10149840" y="1691640"/>
            <a:ext cx="1810512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771632" y="1837944"/>
            <a:ext cx="566928" cy="566928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36" name="Image 5" descr="/sessions/fervent-dazzling-brown/mnt/outputs/deck/icons/refres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5333" y="1911645"/>
            <a:ext cx="419527" cy="41952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204704" y="2478024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10222992" y="2880360"/>
            <a:ext cx="1664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inventory policy from EOQ economics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502920" y="4343400"/>
            <a:ext cx="11183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of this deck maps to one of these six touchpoints — the dataset makes them measurable, the platform makes them automatable, the dashboard makes them visible.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replaces dispatcher and planner judgment — it gives them a ranked, explained shortlist instead of a blank screen.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377440"/>
            <a:ext cx="4114800" cy="41148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65960"/>
            <a:ext cx="1371600" cy="137160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5" name="Image 0" descr="/sessions/fervent-dazzling-brown/mnt/outputs/dec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2144268"/>
            <a:ext cx="1014984" cy="1014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520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Foundation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5262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causally-consistent synthetic dataset, engineered so there is something real to learn from it.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system, four repositories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6152" y="1837944"/>
            <a:ext cx="566928" cy="566928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6" name="Image 0" descr="/sessions/fervent-dazzling-brown/mnt/outputs/dec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853" y="1911645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" y="247802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6072" y="2880360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synthetic engine — 20 tables, physics-based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00884" y="2807208"/>
            <a:ext cx="100584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10" name="Shape 7"/>
          <p:cNvSpPr/>
          <p:nvPr/>
        </p:nvSpPr>
        <p:spPr>
          <a:xfrm>
            <a:off x="2606040" y="169164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1837944"/>
            <a:ext cx="566928" cy="566928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12" name="Image 1" descr="/sessions/fervent-dazzling-brown/mnt/outputs/deck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973" y="1911645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60904" y="247802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679192" y="2880360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Parquet · SQLite · SQL · DuckDB, with a leakage-free ML table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04004" y="2807208"/>
            <a:ext cx="100584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16" name="Shape 12"/>
          <p:cNvSpPr/>
          <p:nvPr/>
        </p:nvSpPr>
        <p:spPr>
          <a:xfrm>
            <a:off x="4709160" y="169164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22392" y="1837944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8" name="Image 2" descr="/sessions/fervent-dazzling-brown/mnt/outputs/deck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093" y="1911645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64024" y="247802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Platform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782312" y="2880360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stages: preprocess → EDA → models → optimize → explain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07124" y="2807208"/>
            <a:ext cx="100584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22" name="Shape 17"/>
          <p:cNvSpPr/>
          <p:nvPr/>
        </p:nvSpPr>
        <p:spPr>
          <a:xfrm>
            <a:off x="6812280" y="169164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25512" y="1837944"/>
            <a:ext cx="566928" cy="566928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4" name="Image 3" descr="/sessions/fervent-dazzling-brown/mnt/outputs/deck/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213" y="1911645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67144" y="247802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&amp; API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885432" y="2880360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models, promote / rollback, feature-contract API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810244" y="2807208"/>
            <a:ext cx="100584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28" name="Shape 22"/>
          <p:cNvSpPr/>
          <p:nvPr/>
        </p:nvSpPr>
        <p:spPr>
          <a:xfrm>
            <a:off x="8915400" y="169164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628632" y="1837944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30" name="Image 4" descr="/sessions/fervent-dazzling-brown/mnt/outputs/deck/icons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2333" y="1911645"/>
            <a:ext cx="419527" cy="41952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970264" y="247802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8988552" y="2880360"/>
            <a:ext cx="18470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Pre-aggregated JSON payload → one self-contained HTML file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02920" y="4343400"/>
            <a:ext cx="11183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reads real output from the stage before it — the dashboard's numbers trace back to the same 50,150-order run the ML platform trained on.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degrades gracefully: an optional library that's missing skips its model and says so, rather than aborting the run.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reproduced, and to scale on command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46504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6" name="Image 0" descr="/sessions/fervent-dazzling-brown/mnt/outputs/deck/icons/refres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805940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2456" y="17282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seed, same bytes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295144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generator draws from its own named RNG stream, derived from the project seed via a keyed BLAKE2b hash. Reordering or adding a table never perturbs the others.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746504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/sessions/fervent-dazzling-brown/mnt/outputs/deck/icons/gau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68" y="1805940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31736" y="17282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changes the scale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46520" y="2295144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project.scale multiplies every entity count together: 0.05 for a 50,150-order sample (~66s), 1.0 for the full 1M-delivery / ~17M-row spec.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3986784"/>
            <a:ext cx="457200" cy="457200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16" name="Image 2" descr="/sessions/fervent-dazzling-brown/mnt/outputs/deck/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4046220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62456" y="39684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export formats, one run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77240" y="4535424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Parquet, SQLite, portable SQL, and DuckDB all come out of the same run. A failure writing one format never aborts the others.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74904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986784"/>
            <a:ext cx="457200" cy="45720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1" name="Image 3" descr="/sessions/fervent-dazzling-brown/mnt/outputs/deck/icons/file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68" y="4046220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31736" y="39684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not assumed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46520" y="4535424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automated checks: referential integrity across 13 foreign keys, physical plausibility, missingness rates on target, and zero leakage columns surviving preprocessing.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that are built, not drawn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tables, from dimensions to derived ML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45059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50,150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98094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in the sample run used throughout this deck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34670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387705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at the full configured scale (1.0×)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24281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477316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domains: courier, e-commerce, grocery, pharma, manufacturing...</a:t>
            </a:r>
            <a:endParaRPr lang="en-US" sz="1200" dirty="0"/>
          </a:p>
        </p:txBody>
      </p:sp>
      <p:pic>
        <p:nvPicPr>
          <p:cNvPr id="12" name="Image 0" descr="/sessions/fervent-dazzling-brown/mnt/outputs/deck/charts/environment_caus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417320"/>
            <a:ext cx="5669280" cy="27889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89320" y="4343400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449884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1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effective_speed = base_speed ÷ (traffic × weather)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1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 = travel_time + service + handling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12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 = (pickup_lag + duration) − promised_SLA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61264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calibration lands the fleet on the configured 88.5% on-time target (88.7% achieved) by scaling promised windows with a single constant, preserving relative SLA structure across priorities and domains.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and freight physics are enforced, not decorative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0352" cy="530352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5" name="Image 0" descr="/sessions/fervent-dazzling-brown/mnt/outputs/deck/icons/mapP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866" y="1669146"/>
            <a:ext cx="392460" cy="392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5819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is real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261872" y="1965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zones only exist in cities that have a warehouse, and each city is served by its nearest site. Median distance 21 km — 18.5 km urban, 27 km suburban, 51 km rural.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3017520"/>
            <a:ext cx="530352" cy="53035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9" name="Image 1" descr="/sessions/fervent-dazzling-brown/mnt/outputs/deck/icons/facto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66" y="3086466"/>
            <a:ext cx="392460" cy="392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29992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behave differently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261872" y="33832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domains carry heavy loads with a long-haul tail — manufacturing runs a 211 kg median load and a 1,458 km p95 distance. Courier and grocery stay last-mile: 0.8–2.7 kg, ~50 km at p95.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4434840"/>
            <a:ext cx="530352" cy="530352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13" name="Image 2" descr="/sessions/fervent-dazzling-brown/mnt/outputs/deck/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66" y="4503786"/>
            <a:ext cx="392460" cy="392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441655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are multi-stop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261872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clustered by warehouse-day into runs of about 5 stops sharing one vehicle and driver, then rolled up into 9,764 route facts with consolidation savings on distance.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missingness mechanisms, deliberately different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59893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9202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depends 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orders.package_weight_kg masked at 5%, independent of any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observed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orders.actual_delivery_ts masked depending on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hidden value itself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orders.declared_value_usd — high values are hidden more often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977640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rules ship by default. Achieved rates track configured targets to within 0.6 percentage points. Every masked cell is written to ground_truth/ with its true value, so imputation strategies can be scored, not guessed at.</a:t>
            </a:r>
            <a:endParaRPr lang="en-US" sz="1250" dirty="0"/>
          </a:p>
        </p:txBody>
      </p:sp>
      <p:pic>
        <p:nvPicPr>
          <p:cNvPr id="6" name="Image 0" descr="/sessions/fervent-dazzling-brown/mnt/outputs/deck/charts/mnar_b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17320"/>
            <a:ext cx="4937760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61264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MNAR bias is real and measurable: naive mean-imputation on declared_value_usd would understate true values by roughly 42% — exactly the failure mode this mechanism is built to expose.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anomaly classes, every one labelled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disruptions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spikes &amp; extreme weather events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gridlock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breakdowns — delay + cost spike + possible failure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no-shows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stockouts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fuel-price shocks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errors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orders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defects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92024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jumps — position teleports with impossible implied speed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flatlines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drift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orders (-DUP suffix)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durations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Order-of-magnitude cost outliers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61264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anomaly is tagged in the affected table's anomaly_flags column, so detection models have labelled ground truth to train and score against.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377440"/>
            <a:ext cx="4114800" cy="41148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65960"/>
            <a:ext cx="1371600" cy="13716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5" name="Image 0" descr="/sessions/fervent-dazzling-brown/mnt/outputs/deck/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2144268"/>
            <a:ext cx="1014984" cy="1014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520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Intelligence Layer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5262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learning, deep learning, optimization and explainability — seven stages, one config-driven platform.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stages, run from one configuration file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572768" cy="173736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1326" y="1837944"/>
            <a:ext cx="555955" cy="555955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6" name="Image 0" descr="/sessions/fervent-dazzling-brown/mnt/outputs/deck/icons/fil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601" y="1910218"/>
            <a:ext cx="411407" cy="4114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" y="2467051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078431" y="2487168"/>
            <a:ext cx="86868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9" name="Shape 6"/>
          <p:cNvSpPr/>
          <p:nvPr/>
        </p:nvSpPr>
        <p:spPr>
          <a:xfrm>
            <a:off x="2167128" y="1691640"/>
            <a:ext cx="1572768" cy="173736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75534" y="1837944"/>
            <a:ext cx="555955" cy="555955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1" name="Image 1" descr="/sessions/fervent-dazzling-brown/mnt/outputs/deck/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809" y="1910218"/>
            <a:ext cx="411407" cy="4114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21992" y="2467051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742639" y="2487168"/>
            <a:ext cx="86868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14" name="Shape 10"/>
          <p:cNvSpPr/>
          <p:nvPr/>
        </p:nvSpPr>
        <p:spPr>
          <a:xfrm>
            <a:off x="3831336" y="1691640"/>
            <a:ext cx="1572768" cy="173736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39742" y="1837944"/>
            <a:ext cx="555955" cy="555955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6" name="Image 2" descr="/sessions/fervent-dazzling-brown/mnt/outputs/deck/icons/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017" y="1910218"/>
            <a:ext cx="411407" cy="41140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86200" y="2467051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06847" y="2487168"/>
            <a:ext cx="86868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19" name="Shape 14"/>
          <p:cNvSpPr/>
          <p:nvPr/>
        </p:nvSpPr>
        <p:spPr>
          <a:xfrm>
            <a:off x="5495544" y="1691640"/>
            <a:ext cx="1572768" cy="173736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03950" y="1837944"/>
            <a:ext cx="555955" cy="555955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1" name="Image 3" descr="/sessions/fervent-dazzling-brown/mnt/outputs/deck/icons/puzz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225" y="1910218"/>
            <a:ext cx="411407" cy="41140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0408" y="2467051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071055" y="2487168"/>
            <a:ext cx="86868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24" name="Shape 18"/>
          <p:cNvSpPr/>
          <p:nvPr/>
        </p:nvSpPr>
        <p:spPr>
          <a:xfrm>
            <a:off x="7159752" y="1691640"/>
            <a:ext cx="1572768" cy="173736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668158" y="1837944"/>
            <a:ext cx="555955" cy="555955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6" name="Image 4" descr="/sessions/fervent-dazzling-brown/mnt/outputs/deck/icons/cpu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0433" y="1910218"/>
            <a:ext cx="411407" cy="41140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14616" y="2467051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735263" y="2487168"/>
            <a:ext cx="86868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29" name="Shape 22"/>
          <p:cNvSpPr/>
          <p:nvPr/>
        </p:nvSpPr>
        <p:spPr>
          <a:xfrm>
            <a:off x="8823960" y="1691640"/>
            <a:ext cx="1572768" cy="173736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332366" y="1837944"/>
            <a:ext cx="555955" cy="555955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31" name="Image 5" descr="/sessions/fervent-dazzling-brown/mnt/outputs/deck/icons/rout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4641" y="1910218"/>
            <a:ext cx="411407" cy="41140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78824" y="2467051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10399471" y="2487168"/>
            <a:ext cx="86868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34" name="Shape 26"/>
          <p:cNvSpPr/>
          <p:nvPr/>
        </p:nvSpPr>
        <p:spPr>
          <a:xfrm>
            <a:off x="10488168" y="1691640"/>
            <a:ext cx="1572768" cy="173736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996574" y="1837944"/>
            <a:ext cx="555955" cy="555955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36" name="Image 6" descr="/sessions/fervent-dazzling-brown/mnt/outputs/deck/icons/ey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8849" y="1910218"/>
            <a:ext cx="411407" cy="41140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543032" y="2467051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502920" y="3840480"/>
            <a:ext cx="111831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splits temporally (train ≤ Oct 6, test from Nov 6) because predicting SLA breaches is forecasting — a random split would let the model read the future.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heavy dependency is optional: XGBoost, LightGBM, CatBoost, OR-Tools, SHAP, LIME, UMAP, PyTorch, FastAPI all degrade gracefully and report their status via `logisticsml.cli deps`.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run: 50,150 orders, 137 engineered features, nine supervised model families benchmarked on one split.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 features — and a leakage bug we caught ourselves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 (including cyclical sin/cos encodings), geospatial, package, resource, environmental, rolling-history and efficiency features, denormalised from orders against every dimension table.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aggregates are leakage-aware: every historical feature is computed with .shift(1), so a row never sees its own outcome.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ml_clean applies imputation, outlier clipping, ordinal encoding, missing indicators and constant-column dropping — every decision logged to preprocessing_metadata.json so the transform can be replayed.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810512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7" name="Image 0" descr="/sessions/fervent-dazzling-brown/mnt/outputs/deck/icons/b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3116" y="1869948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8040" y="181051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verification, not by the user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0" y="24231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run: ROC-AUC 1.000. That's leakage, not skill.</a:t>
            </a:r>
            <a:endParaRPr lang="en-US" sz="118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ml_features still carried is_late, delay_minutes and realised costs — the model was scoring its own answer key.</a:t>
            </a:r>
            <a:endParaRPr lang="en-US" sz="118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with an explicit 25-column leakage guard (data.leakage_columns), applied after the target is extracted.</a:t>
            </a:r>
            <a:endParaRPr lang="en-US" sz="118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result: 0.998 — genuinely high, because delay is a deterministic function of distance, traffic, weather and SLA, all of which remain legitimate features. The model's top drivers (sla_hours, lead_time_hours, congestion_index) match the generator's own causal logic.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model families, one held-out split</a:t>
            </a:r>
            <a:endParaRPr lang="en-US" sz="2700" dirty="0"/>
          </a:p>
        </p:txBody>
      </p:sp>
      <p:pic>
        <p:nvPicPr>
          <p:cNvPr id="4" name="Image 0" descr="/sessions/fervent-dazzling-brown/mnt/Logistics/logistics_ml/artifacts/plots/supervised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11155680" cy="306324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709160"/>
          <a:ext cx="11155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1264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Late-delivery-at-dispatch task, temporal split, 137 features, 50,150 orders. Full nine-model table (incl. SVM, KNN, Decision Tree, Logistic Regression) in the ML platform report.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honest framings of the same question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6" name="Image 0" descr="/sessions/fervent-dazzling-brown/mnt/outputs/deck/icons/tru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0372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025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dispatch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7772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977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lead_time_hours is known once a vehicle and driver are assigned — the model can use it, and it's the single strongest predictor available.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3" name="Image 1" descr="/sessions/fervent-dazzling-brown/mnt/outputs/deck/icons/pack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283" y="2037283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002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order entry (pre-dispatch)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37960" y="2788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0.960</a:t>
            </a:r>
            <a:endParaRPr lang="en-US" sz="4400" dirty="0"/>
          </a:p>
        </p:txBody>
      </p:sp>
      <p:sp>
        <p:nvSpPr>
          <p:cNvPr id="16" name="Text 12"/>
          <p:cNvSpPr/>
          <p:nvPr/>
        </p:nvSpPr>
        <p:spPr>
          <a:xfrm>
            <a:off x="653796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37960" y="39776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lead_time_hours and everything else known only after assignment. Use this task if you want to quote a delivery promise the moment the order is placed.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02920" y="61264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0.038 gap between the two is the measured value of knowing vehicle/driver assignment before predicting — not a modelling artifact.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task has signal — and the platform says so</a:t>
            </a:r>
            <a:endParaRPr lang="en-US" sz="2700" dirty="0"/>
          </a:p>
        </p:txBody>
      </p:sp>
      <p:pic>
        <p:nvPicPr>
          <p:cNvPr id="4" name="Image 0" descr="/sessions/fervent-dazzling-brown/mnt/outputs/deck/charts/task_sig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17320"/>
            <a:ext cx="1014984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architectures, native PyTorch, labelled honestly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57200" cy="457200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5" name="Image 0" descr="/sessions/fervent-dazzling-brown/mnt/outputs/deck/icons/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65963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21214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673352" y="1600200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8" name="Image 1" descr="/sessions/fervent-dazzling-brown/mnt/outputs/deck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788" y="1659636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53312" y="21214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843784" y="16002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2" descr="/sessions/fervent-dazzling-brown/mnt/outputs/deck/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1659636"/>
            <a:ext cx="338328" cy="3383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23744" y="21214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014216" y="160020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4" name="Image 3" descr="/sessions/fervent-dazzling-brown/mnt/outputs/deck/icons/networ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52" y="1659636"/>
            <a:ext cx="338328" cy="3383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94176" y="21214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Transformer-style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5184648" y="1600200"/>
            <a:ext cx="457200" cy="45720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7" name="Image 4" descr="/sessions/fervent-dazzling-brown/mnt/outputs/deck/icons/targe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084" y="1659636"/>
            <a:ext cx="338328" cy="3383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64608" y="212140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TabNet (sparsemax)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502920" y="2880360"/>
            <a:ext cx="5669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implemented natively in PyTorch (deep_torch.py) — MLP and autoencoder classics, an LSTM for sequence structure, an FT-Transformer-style model with attention over feature tokens, and TabNet with a from-scratch sparsemax feature-selection layer.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sandbox had no GPU/torch runtime available (network and disk constraints) — every deep-learning result on this slide runs through scikit-learn stand-ins, explicitly labelled APPROXIMATION in every table and report.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PyTorch path ships ready to run on a machine with torch installed; nothing here is placeholder code.</a:t>
            </a:r>
            <a:endParaRPr lang="en-US" sz="1250" dirty="0"/>
          </a:p>
        </p:txBody>
      </p:sp>
      <p:pic>
        <p:nvPicPr>
          <p:cNvPr id="20" name="Image 5" descr="/sessions/fervent-dazzling-brown/mnt/Logistics/logistics_ml/artifacts/plots/deep_learning/reconstruction_err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788920"/>
            <a:ext cx="5349240" cy="30175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solvers across four problem families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37360"/>
            <a:ext cx="420624" cy="420624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6" name="Image 0" descr="/sessions/fervent-dazzling-brown/mnt/outputs/deck/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769" y="1792041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67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/ CVRP / VRPTW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6151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RoutingModel, with a nearest-neighbour + 2-opt fallback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3337560" y="15544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1737360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/sessions/fervent-dazzling-brown/mnt/outputs/deck/icons/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409" y="1792041"/>
            <a:ext cx="311262" cy="31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267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scheduling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20440" y="26151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model over shift coverage and labour cost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6172200" y="15544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73368" y="1737360"/>
            <a:ext cx="420624" cy="420624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16" name="Image 2" descr="/sessions/fervent-dazzling-brown/mnt/outputs/deck/icons/tru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049" y="1792041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267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allocation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55080" y="26151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assignment with soft subcontracting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9006840" y="15544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08008" y="1737360"/>
            <a:ext cx="420624" cy="420624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1" name="Image 3" descr="/sessions/fervent-dazzling-brown/mnt/outputs/deck/icons/warehou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689" y="1792041"/>
            <a:ext cx="311262" cy="3112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2677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allocation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89720" y="26151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Capacitated facility location, CP-SAT, vs a proper greedy baseline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502920" y="329184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04088" y="3474720"/>
            <a:ext cx="420624" cy="420624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6" name="Image 4" descr="/sessions/fervent-dazzling-brown/mnt/outputs/deck/icons/packa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69" y="3529401"/>
            <a:ext cx="311262" cy="3112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(EOQ)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85800" y="43525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economic order quantity with safety stock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3337560" y="329184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38728" y="3474720"/>
            <a:ext cx="420624" cy="420624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31" name="Image 5" descr="/sessions/fervent-dazzling-brown/mnt/outputs/deck/icons/branch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409" y="3529401"/>
            <a:ext cx="311262" cy="3112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044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520440" y="43525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From-scratch, benchmarked on the same instance as OR-Tools</a:t>
            </a:r>
            <a:endParaRPr lang="en-US" sz="930" dirty="0"/>
          </a:p>
        </p:txBody>
      </p:sp>
      <p:sp>
        <p:nvSpPr>
          <p:cNvPr id="34" name="Shape 26"/>
          <p:cNvSpPr/>
          <p:nvPr/>
        </p:nvSpPr>
        <p:spPr>
          <a:xfrm>
            <a:off x="6172200" y="329184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73368" y="3474720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6" name="Image 6" descr="/sessions/fervent-dazzling-brown/mnt/outputs/deck/icons/bol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049" y="3529401"/>
            <a:ext cx="311262" cy="31126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5508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355080" y="43525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— 0.7% off exact, in 1/90th the time</a:t>
            </a:r>
            <a:endParaRPr lang="en-US" sz="930" dirty="0"/>
          </a:p>
        </p:txBody>
      </p:sp>
      <p:sp>
        <p:nvSpPr>
          <p:cNvPr id="39" name="Shape 30"/>
          <p:cNvSpPr/>
          <p:nvPr/>
        </p:nvSpPr>
        <p:spPr>
          <a:xfrm>
            <a:off x="9006840" y="329184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08008" y="3474720"/>
            <a:ext cx="420624" cy="420624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41" name="Image 7" descr="/sessions/fervent-dazzling-brown/mnt/outputs/deck/icons/user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2689" y="3529401"/>
            <a:ext cx="311262" cy="31126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89720" y="40050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swarm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9189720" y="43525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From-scratch, fastest wall-clock of the four methods</a:t>
            </a:r>
            <a:endParaRPr lang="en-US" sz="930" dirty="0"/>
          </a:p>
        </p:txBody>
      </p:sp>
      <p:sp>
        <p:nvSpPr>
          <p:cNvPr id="44" name="Text 3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result measured against a real baseline</a:t>
            </a:r>
            <a:endParaRPr lang="en-US" sz="2700" dirty="0"/>
          </a:p>
        </p:txBody>
      </p:sp>
      <p:pic>
        <p:nvPicPr>
          <p:cNvPr id="4" name="Image 0" descr="/sessions/fervent-dazzling-brown/mnt/outputs/deck/charts/optimization_sav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766560" cy="3566160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554480"/>
          <a:ext cx="41605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1887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scheduling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$8,782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allocation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$12,519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allocation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48,935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49,073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(EOQ)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$9.38M/yr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12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$10.45M/yr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498080" y="333756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allocation improves only 0.3% — and that's the honest number. Its baseline is greedy facility location, which is provably near-optimal here. An earlier version compared against an “open every site” baseline and reported a meaningless 66%.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40-stop instance, four ways</a:t>
            </a:r>
            <a:endParaRPr lang="en-US" sz="2700" dirty="0"/>
          </a:p>
        </p:txBody>
      </p:sp>
      <p:pic>
        <p:nvPicPr>
          <p:cNvPr id="4" name="Image 0" descr="/sessions/fervent-dazzling-brown/mnt/outputs/deck/charts/rout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6949440" cy="3337560"/>
          </a:xfrm>
          <a:prstGeom prst="rect">
            <a:avLst/>
          </a:prstGeom>
        </p:spPr>
      </p:pic>
      <p:pic>
        <p:nvPicPr>
          <p:cNvPr id="5" name="Image 1" descr="/sessions/fervent-dazzling-brown/mnt/Logistics/logistics_ml/artifacts/plots/optimization/cvrp_rou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25880"/>
            <a:ext cx="4114800" cy="3794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4892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lands within 0.7% of the exact solver in 1/90th of the time — the trade-off is the point of running them head-to-head, not a contest to declare a single winner.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attribution, computed natively</a:t>
            </a:r>
            <a:endParaRPr lang="en-US" sz="2700" dirty="0"/>
          </a:p>
        </p:txBody>
      </p:sp>
      <p:pic>
        <p:nvPicPr>
          <p:cNvPr id="4" name="Image 0" descr="/sessions/fervent-dazzling-brown/mnt/Logistics/logistics_ml/artifacts/plots/explainability/shap_beesw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658368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1463040"/>
            <a:ext cx="4343400" cy="448056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35240" y="17373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7" name="Image 1" descr="/sessions/fervent-dazzling-brown/mnt/outputs/deck/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676" y="1796796"/>
            <a:ext cx="338328" cy="338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1737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packaging bug, not a modelling one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635240" y="242316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released shap package fails against XGBoost 3.x — it can't parse the JSON-encoded base_score.</a:t>
            </a:r>
            <a:endParaRPr lang="en-US" sz="118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calls XGBoost's and LightGBM's native TreeSHAP directly instead — the same exact Shapley values, from the library that owns the tree structure.</a:t>
            </a:r>
            <a:endParaRPr lang="en-US" sz="118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8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attribution: sla_hours (39%), lead_time_hours (22%), planned_duration_min, congestion_index, distance_km.</a:t>
            </a:r>
            <a:endParaRPr lang="en-US" sz="1180" dirty="0"/>
          </a:p>
        </p:txBody>
      </p:sp>
      <p:sp>
        <p:nvSpPr>
          <p:cNvPr id="10" name="Text 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methods, cross-checked — and wired into governance</a:t>
            </a:r>
            <a:endParaRPr lang="en-US" sz="2700" dirty="0"/>
          </a:p>
        </p:txBody>
      </p:sp>
      <p:pic>
        <p:nvPicPr>
          <p:cNvPr id="4" name="Image 0" descr="/sessions/fervent-dazzling-brown/mnt/Logistics/logistics_ml/artifacts/plots/explainability/permutation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9436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5544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vs. permutation importance rank correlation: 0.61 — sharp disagreement would flag correlated features or an unstable model; this level says the two methods broadly agree.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(in-house weighted-ridge surrogate) and partial dependence available per-instance and per-feature.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built in, not bolted on: the model registry versions every run, promotion and rollback are one command, and the prediction API enforces a feature contract — reordering input columns cannot change a prediction. That invariant is covered by a test.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377440"/>
            <a:ext cx="4114800" cy="41148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65960"/>
            <a:ext cx="1371600" cy="1371600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5" name="Image 0" descr="/sessions/fervent-dazzling-brown/mnt/outputs/deck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2144268"/>
            <a:ext cx="1014984" cy="1014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520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5262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nine-module executive dashboard — one self-contained file, live filters, and an honest empty state when data is missing.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modules, one page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709928"/>
            <a:ext cx="420624" cy="420624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6" name="Image 0" descr="/sessions/fervent-dazzling-brown/mnt/outputs/deck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769" y="1764609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6733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" y="222199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cost, margin, on-time rate, MoM movement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98848" y="1709928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/sessions/fervent-dazzling-brown/mnt/outputs/deck/icons/gau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529" y="1764609"/>
            <a:ext cx="311262" cy="31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47488" y="16733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Center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98848" y="222199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heatmap, hourly reliability, congestion profile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92440" y="15087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93608" y="1709928"/>
            <a:ext cx="420624" cy="420624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16" name="Image 2" descr="/sessions/fervent-dazzling-brown/mnt/outputs/deck/icons/tru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289" y="1764609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2248" y="16733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93608" y="222199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Composition, age, energy mix, utilisation, maintenance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1089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310128"/>
            <a:ext cx="420624" cy="420624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1" name="Image 3" descr="/sessions/fervent-dazzling-brown/mnt/outputs/deck/icons/warehou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69" y="3364809"/>
            <a:ext cx="311262" cy="3112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52728" y="32735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Analytics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04088" y="382219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vs. capacity, automation, stockout exposure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1089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98848" y="3310128"/>
            <a:ext cx="420624" cy="420624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6" name="Image 4" descr="/sessions/fervent-dazzling-brown/mnt/outputs/deck/icons/mapP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529" y="3364809"/>
            <a:ext cx="311262" cy="3112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47488" y="32735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Monitoring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98848" y="382219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map, 7 layers, SLA outcome by priority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92440" y="31089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93608" y="3310128"/>
            <a:ext cx="420624" cy="420624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31" name="Image 5" descr="/sessions/fervent-dazzling-brown/mnt/outputs/deck/icons/trendU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289" y="3364809"/>
            <a:ext cx="311262" cy="3112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2248" y="32735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93608" y="382219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projection, 95% interval, seasonality decomposition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02920" y="47091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04088" y="4910328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36" name="Image 6" descr="/sessions/fervent-dazzling-brown/mnt/outputs/deck/icons/gea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769" y="4965009"/>
            <a:ext cx="311262" cy="31126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52728" y="4873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Simulator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04088" y="542239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what-if levers, live cost &amp; service recomputation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297680" y="47091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498848" y="4910328"/>
            <a:ext cx="420624" cy="420624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41" name="Image 7" descr="/sessions/fervent-dazzling-brown/mnt/outputs/deck/icons/awar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529" y="4965009"/>
            <a:ext cx="311262" cy="31126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047488" y="4873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4498848" y="542239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ranked, quantified actions, each with its evidence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092440" y="470916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293608" y="4910328"/>
            <a:ext cx="420624" cy="420624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46" name="Image 8" descr="/sessions/fervent-dazzling-brown/mnt/outputs/deck/icons/ey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289" y="4965009"/>
            <a:ext cx="311262" cy="31126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842248" y="4873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8293608" y="5422392"/>
            <a:ext cx="3209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leaderboard, agreement check, partial dependence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composite you can trust, not a slide of hopes</a:t>
            </a:r>
            <a:endParaRPr lang="en-US" sz="2400" dirty="0"/>
          </a:p>
        </p:txBody>
      </p:sp>
      <p:pic>
        <p:nvPicPr>
          <p:cNvPr id="4" name="Image 0" descr="/sessions/fervent-dazzling-brown/mnt/outputs/deck/charts/dashboard_m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7315200" cy="3959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1234440"/>
            <a:ext cx="3749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actually filter.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432-row region × domain × month cube lets the browser genuinely re-aggregate the executive figures — not just swap a label.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is calibrated, not invented.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and weather elasticities are measured late-rate gaps from this dataset; vehicles and drivers are modelled Cobb-Douglas (85/15) toward whichever is scarcer.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is reported out-of-sample.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16.97% MAPE held out, vs. 7.04% in-sample — the flattering number is not the one we lead with.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43 validation checks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headless harness: every KPI reconciles to the payload, every chart container renders or shows an honest empty state.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61264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dashboard.html is one self-contained file (0.72 MB) — opens by double-click, no server. This image is an illustrative composite built from the same payload, for a slide that has to work without a browser.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377440"/>
            <a:ext cx="4114800" cy="41148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65960"/>
            <a:ext cx="1371600" cy="1371600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5" name="Image 0" descr="/sessions/fervent-dazzling-brown/mnt/outputs/deck/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2144268"/>
            <a:ext cx="1014984" cy="1014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520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5262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worked examples from this dataset, and a quantified — explicitly illustrative — ROI estimate.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Predicting, explaining, and pricing for late deliveries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2768" y="1874520"/>
            <a:ext cx="512064" cy="512064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6" name="Image 0" descr="/sessions/fervent-dazzling-brown/mnt/outputs/deck/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336" y="1941088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29260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dispatch-time model flags at-risk orders at ROC-AUC 0.998, using features known the moment a vehicle and driver are assigned.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3159252" y="3127248"/>
            <a:ext cx="173736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10" name="Shape 7"/>
          <p:cNvSpPr/>
          <p:nvPr/>
        </p:nvSpPr>
        <p:spPr>
          <a:xfrm>
            <a:off x="3337560" y="164592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7408" y="1874520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2" name="Image 1" descr="/sessions/fervent-dazzling-brown/mnt/outputs/deck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976" y="1941088"/>
            <a:ext cx="378927" cy="3789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20440" y="29260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sla_hours alone accounts for 39% of attribution — the model leans on the same lever a planner would.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5993892" y="3127248"/>
            <a:ext cx="173736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16" name="Shape 12"/>
          <p:cNvSpPr/>
          <p:nvPr/>
        </p:nvSpPr>
        <p:spPr>
          <a:xfrm>
            <a:off x="6172200" y="164592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42048" y="1874520"/>
            <a:ext cx="512064" cy="512064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8" name="Image 2" descr="/sessions/fervent-dazzling-brown/mnt/outputs/deck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616" y="1941088"/>
            <a:ext cx="378927" cy="3789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55080" y="29260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weather deliveries run 13.0% late vs. 11.0% in clear conditions — a measured +2.0pp across 7,236 deliveries, not a modelling artifact.</a:t>
            </a:r>
            <a:endParaRPr lang="en-US" sz="1030" dirty="0"/>
          </a:p>
        </p:txBody>
      </p:sp>
      <p:sp>
        <p:nvSpPr>
          <p:cNvPr id="21" name="Shape 16"/>
          <p:cNvSpPr/>
          <p:nvPr/>
        </p:nvSpPr>
        <p:spPr>
          <a:xfrm>
            <a:off x="8828532" y="3127248"/>
            <a:ext cx="173736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22" name="Shape 17"/>
          <p:cNvSpPr/>
          <p:nvPr/>
        </p:nvSpPr>
        <p:spPr>
          <a:xfrm>
            <a:off x="9006840" y="164592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76688" y="1874520"/>
            <a:ext cx="512064" cy="512064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24" name="Image 3" descr="/sessions/fervent-dazzling-brown/mnt/outputs/deck/icons/doll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3256" y="1941088"/>
            <a:ext cx="378927" cy="3789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189720" y="29260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extend promised windows automatically once severity crosses a threshold — quantified impact $27,854/yr at this sample's scale.</a:t>
            </a:r>
            <a:endParaRPr lang="en-US" sz="1030" dirty="0"/>
          </a:p>
        </p:txBody>
      </p:sp>
      <p:sp>
        <p:nvSpPr>
          <p:cNvPr id="27" name="Text 2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2 &amp;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fleet that's under-loaded, and a stock policy already priced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30352" cy="53035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6" name="Image 0" descr="/sessions/fervent-dazzling-brown/mnt/outputs/deck/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186" y="2034906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025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consolidation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routes run under 40% of vehicle capacity; median load is just 7%.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raise the minimum load threshold before dispatch — $496,688/yr identified at this sample's scale.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Separately, the fleet-allocation CP-SAT solver already beats a real assignment baseline by 70.9% on its own cost objective — the two levers are complementary.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530352" cy="530352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11" name="Image 1" descr="/sessions/fervent-dazzling-brown/mnt/outputs/deck/icons/pack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906" y="2034906"/>
            <a:ext cx="392460" cy="392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025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policy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846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 with safety stock reaches $9.38M/yr against a $10.45M/yr baseline — 10.3%, or $1.076M/yr.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lever identified anywhere in this platform, and it's closed-form: no solver required, just the right formula applied consistently.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a targeted safety-stock raise on the SKUs driving the 1.36% stockout rate ($160,274/yr).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$2.17M/yr in quantified opportunity, at this sample's scale</a:t>
            </a:r>
            <a:endParaRPr lang="en-US" sz="2700" dirty="0"/>
          </a:p>
        </p:txBody>
      </p:sp>
      <p:pic>
        <p:nvPicPr>
          <p:cNvPr id="4" name="Image 0" descr="/sessions/fervent-dazzling-brown/mnt/outputs/deck/charts/roi_recommend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877824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0" y="1417320"/>
            <a:ext cx="2103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802368" y="15727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$9.36M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802368" y="2103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01200" y="2624328"/>
            <a:ext cx="2103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02368" y="277977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B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$5.35M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802368" y="331012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601200" y="3831336"/>
            <a:ext cx="2103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802368" y="39867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B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42.9%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802368" y="451713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601200" y="5038344"/>
            <a:ext cx="210312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802368" y="519379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$2.17M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9802368" y="572414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opportunity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every number on the last two slides as a method demonstration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965960"/>
          </a:xfrm>
          <a:prstGeom prst="roundRect">
            <a:avLst>
              <a:gd name="adj" fmla="val 4186"/>
            </a:avLst>
          </a:prstGeom>
          <a:solidFill>
            <a:srgbClr val="FFF6E8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11183112" cy="1965960"/>
          </a:xfrm>
          <a:prstGeom prst="roundRect">
            <a:avLst>
              <a:gd name="adj" fmla="val 4186"/>
            </a:avLst>
          </a:prstGeom>
          <a:ln w="19050">
            <a:solidFill>
              <a:srgbClr val="F5A62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74520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7" name="Image 0" descr="/sessions/fervent-dazzling-brown/mnt/outputs/deck/icons/ale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808" y="1941088"/>
            <a:ext cx="378927" cy="3789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10512"/>
            <a:ext cx="9144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are illustrative estimates computed on the generated synthetic sample (50,150 orders). They demonstrate the methodology — how a recommendation is derived and priced — not a guaranteed outcome. Real-world impact depends on data quality, integration depth, organizational adoption, and how closely this dataset's physics match your actual operations.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3886200"/>
            <a:ext cx="111831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production data is messier than a calibrated generator — expect the first pass to find data problems before it finds savings.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depth: the impact estimates assume recommendations are actually operationalised into planning, not just reported.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these dollar figures scale with order volume; a network 10x this size should expect roughly 10x the opportunity, not 10x the confidence.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management: the largest single lever (EOQ inventory, $1.076M/yr) requires zero new technology — only the discipline to run the existing formula consistently.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-2377440"/>
            <a:ext cx="4114800" cy="41148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65960"/>
            <a:ext cx="1371600" cy="137160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5" name="Image 0" descr="/sessions/fervent-dazzling-brown/mnt/outputs/deck/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2144268"/>
            <a:ext cx="1014984" cy="1014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520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to Production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5262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security, cloud deployment, and an honest roadmap for the gap between this build and a production rollout.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entirely open-source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01368"/>
            <a:ext cx="530352" cy="530352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6" name="Image 0" descr="/sessions/fervent-dazzling-brown/mnt/outputs/dec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466" y="1870314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282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075688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PyArrow — Parquet, SQLite, DuckDB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898648"/>
            <a:ext cx="530352" cy="530352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1" name="Image 1" descr="/sessions/fervent-dazzling-brown/mnt/outputs/deck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66" y="2967594"/>
            <a:ext cx="392460" cy="392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825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508760" y="3172968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XGBoost, LightGBM, CatBoost, PyTorch, OR-Tools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79476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995928"/>
            <a:ext cx="530352" cy="530352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16" name="Image 2" descr="/sessions/fervent-dazzling-brown/mnt/outputs/deck/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66" y="4064874"/>
            <a:ext cx="392460" cy="392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227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layer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4270248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File-backed model registry — versioned, promotable, rollback-able; FastAPI or stdlib HTTP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4892040"/>
            <a:ext cx="1118311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5093208"/>
            <a:ext cx="530352" cy="530352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1" name="Image 3" descr="/sessions/fervent-dazzling-brown/mnt/outputs/deck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66" y="5162154"/>
            <a:ext cx="392460" cy="392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0200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08760" y="5367528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HTML, Tailwind, Plotly, Leaflet — no server to run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61264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optional dependency degrades gracefully rather than aborting the run — a design property, not just a library list.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is real today; production hardening is the next step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model registry — every run stores estimator, preprocessor, exact feature order and provenance.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promotion and one-command rollback; the production version is never pruned.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API enforces a feature contract — reordering input columns cannot change a prediction, and that invariant is covered by a test.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6364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before production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87452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and in transit for real (non-synthetic) customer, driver and location data.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on both the dashboard and the prediction API.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minimisation and masking — this dataset is synthetic and contains none, but a real deployment will.</a:t>
            </a:r>
            <a:endParaRPr lang="en-US" sz="12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logging, and vetting of every optional ML dependency before it reaches production.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cloud-agnostic reference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2476" y="1975104"/>
            <a:ext cx="566928" cy="566928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6" name="Image 0" descr="/sessions/fervent-dazzling-brown/mnt/outputs/deck/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177" y="2048805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" y="261518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6072" y="3017520"/>
            <a:ext cx="2459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artifacts — S3 / GCS / Blob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118104" y="2898648"/>
            <a:ext cx="164592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10" name="Shape 7"/>
          <p:cNvSpPr/>
          <p:nvPr/>
        </p:nvSpPr>
        <p:spPr>
          <a:xfrm>
            <a:off x="3291840" y="18288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11396" y="1975104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2" name="Image 1" descr="/sessions/fervent-dazzling-brown/mnt/outputs/deck/icons/ge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097" y="2048805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46704" y="261518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pipeline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364992" y="3017520"/>
            <a:ext cx="2459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+ ML platform, batch or orchestrated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07024" y="2898648"/>
            <a:ext cx="164592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16" name="Shape 12"/>
          <p:cNvSpPr/>
          <p:nvPr/>
        </p:nvSpPr>
        <p:spPr>
          <a:xfrm>
            <a:off x="6080760" y="18288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0316" y="1975104"/>
            <a:ext cx="566928" cy="566928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18" name="Image 2" descr="/sessions/fervent-dazzling-brown/mnt/outputs/deck/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017" y="2048805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35624" y="261518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&amp; API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153912" y="3017520"/>
            <a:ext cx="2459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store behind a managed load balancer, autoscaled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695944" y="2898648"/>
            <a:ext cx="164592" cy="146304"/>
          </a:xfrm>
          <a:prstGeom prst="rightArrow">
            <a:avLst/>
          </a:prstGeom>
          <a:solidFill>
            <a:srgbClr val="8592B0"/>
          </a:solidFill>
          <a:ln/>
        </p:spPr>
      </p:sp>
      <p:sp>
        <p:nvSpPr>
          <p:cNvPr id="22" name="Shape 17"/>
          <p:cNvSpPr/>
          <p:nvPr/>
        </p:nvSpPr>
        <p:spPr>
          <a:xfrm>
            <a:off x="8869680" y="18288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1B2748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89236" y="1975104"/>
            <a:ext cx="566928" cy="566928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4" name="Image 3" descr="/sessions/fervent-dazzling-brown/mnt/outputs/deck/icons/glob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2937" y="2048805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24544" y="2615184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on CDN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942832" y="3017520"/>
            <a:ext cx="24597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file, cached at the edge, no server to run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02920" y="4526280"/>
            <a:ext cx="11183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service is required to reproduce this deck: the entire pipeline above already runs, identically, inside a local sandbox.</a:t>
            </a:r>
            <a:endParaRPr lang="en-US" sz="13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in a managed queue, warehouse, or orchestrator (Airflow, Step Functions, Cloud Composer) is additive, not a rewrite.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1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illustrative path from this build to production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FB6A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459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months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48840" y="15819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343400" y="160020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one real data feed for one region; keep the dashboard read-only while the model's predictions are shadow-scored.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07008" y="2167128"/>
            <a:ext cx="0" cy="530352"/>
          </a:xfrm>
          <a:prstGeom prst="line">
            <a:avLst/>
          </a:prstGeom>
          <a:noFill/>
          <a:ln w="19050">
            <a:solidFill>
              <a:srgbClr val="D7DC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02920" y="281635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16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months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75234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Productionize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43400" y="2770632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registry and API into CI; add authentication and role-based access.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07008" y="3337560"/>
            <a:ext cx="0" cy="530352"/>
          </a:xfrm>
          <a:prstGeom prst="line">
            <a:avLst/>
          </a:prstGeom>
          <a:noFill/>
          <a:ln w="19050">
            <a:solidFill>
              <a:srgbClr val="D7DC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02920" y="3986784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1203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9867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months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39227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343400" y="3941064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 coverage; put a human in the loop on the low-signal tasks (inventory shortage, vehicle failure) rather than automating them prematurely.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07008" y="4507992"/>
            <a:ext cx="0" cy="530352"/>
          </a:xfrm>
          <a:prstGeom prst="line">
            <a:avLst/>
          </a:prstGeom>
          <a:noFill/>
          <a:ln w="19050">
            <a:solidFill>
              <a:srgbClr val="D7DC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02920" y="515721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51572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months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5093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343400" y="5111496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deployment, security hardening, continuous retraining and monitoring against drift.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1264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sequencing, not a committed delivery plan — durations depend on data access, integration scope and organizational readiness.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5486400" cy="5486400"/>
          </a:xfrm>
          <a:prstGeom prst="ellipse">
            <a:avLst/>
          </a:prstGeom>
          <a:solidFill>
            <a:srgbClr val="141D3A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685800"/>
            <a:ext cx="1371600" cy="1371600"/>
          </a:xfrm>
          <a:prstGeom prst="ellipse">
            <a:avLst/>
          </a:prstGeom>
          <a:solidFill>
            <a:srgbClr val="141D3A"/>
          </a:solidFill>
          <a:ln/>
        </p:spPr>
      </p:sp>
      <p:pic>
        <p:nvPicPr>
          <p:cNvPr id="4" name="Image 0" descr="/sessions/fervent-dazzling-brown/mnt/outputs/deck/icons/question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3268" y="864108"/>
            <a:ext cx="1014984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331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02920" y="3246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repositories, one connected system.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" y="3977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D3A"/>
          </a:solidFill>
          <a:ln w="12700">
            <a:solidFill>
              <a:srgbClr val="24325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41348" y="4160520"/>
            <a:ext cx="512064" cy="512064"/>
          </a:xfrm>
          <a:prstGeom prst="ellipse">
            <a:avLst/>
          </a:prstGeom>
          <a:solidFill>
            <a:srgbClr val="1FB6A6"/>
          </a:solidFill>
          <a:ln/>
        </p:spPr>
      </p:sp>
      <p:pic>
        <p:nvPicPr>
          <p:cNvPr id="9" name="Image 1" descr="/sessions/fervent-dazzling-brown/mnt/outputs/deck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916" y="4227088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4754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logistics_datagen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85800" y="5056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tables · 26 checks passing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383280" y="3977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D3A"/>
          </a:solidFill>
          <a:ln w="12700">
            <a:solidFill>
              <a:srgbClr val="24325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30268" y="4160520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4" name="Image 2" descr="/sessions/fervent-dazzling-brown/mnt/outputs/deck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836" y="4227088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4754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logistics_ml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474720" y="5056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stages · 27 checks passing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172200" y="3977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D3A"/>
          </a:solidFill>
          <a:ln w="12700">
            <a:solidFill>
              <a:srgbClr val="24325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219188" y="4160520"/>
            <a:ext cx="512064" cy="512064"/>
          </a:xfrm>
          <a:prstGeom prst="ellipse">
            <a:avLst/>
          </a:prstGeom>
          <a:solidFill>
            <a:srgbClr val="11203D"/>
          </a:solidFill>
          <a:ln/>
        </p:spPr>
      </p:sp>
      <p:pic>
        <p:nvPicPr>
          <p:cNvPr id="19" name="Image 3" descr="/sessions/fervent-dazzling-brown/mnt/outputs/deck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756" y="4227088"/>
            <a:ext cx="378927" cy="3789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63640" y="4754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logistics_dashboard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263640" y="5056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modules · 43 checks passing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8961120" y="397764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141D3A"/>
          </a:solidFill>
          <a:ln w="12700">
            <a:solidFill>
              <a:srgbClr val="24325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008108" y="4160520"/>
            <a:ext cx="512064" cy="512064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4" name="Image 4" descr="/sessions/fervent-dazzling-brown/mnt/outputs/deck/icons/aw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4676" y="4227088"/>
            <a:ext cx="378927" cy="3789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052560" y="4754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9052560" y="5056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topics · every figure sourced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chuvardynskyi@yahoo.com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2026-08-08T10:40:38Z</dcterms:created>
  <dcterms:modified xsi:type="dcterms:W3CDTF">2026-08-08T10:40:38Z</dcterms:modified>
</cp:coreProperties>
</file>